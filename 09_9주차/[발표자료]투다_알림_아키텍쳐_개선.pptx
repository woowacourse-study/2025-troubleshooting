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62" r:id="rId4"/>
    <p:sldId id="263" r:id="rId5"/>
    <p:sldId id="264" r:id="rId6"/>
    <p:sldId id="267" r:id="rId7"/>
    <p:sldId id="266" r:id="rId8"/>
    <p:sldId id="270" r:id="rId9"/>
    <p:sldId id="268" r:id="rId10"/>
    <p:sldId id="271" r:id="rId11"/>
    <p:sldId id="272" r:id="rId12"/>
    <p:sldId id="273" r:id="rId13"/>
    <p:sldId id="269" r:id="rId14"/>
    <p:sldId id="274" r:id="rId15"/>
    <p:sldId id="259" r:id="rId16"/>
    <p:sldId id="277" r:id="rId17"/>
    <p:sldId id="278" r:id="rId18"/>
    <p:sldId id="276" r:id="rId19"/>
    <p:sldId id="279" r:id="rId20"/>
    <p:sldId id="280" r:id="rId21"/>
    <p:sldId id="290" r:id="rId22"/>
    <p:sldId id="298" r:id="rId23"/>
    <p:sldId id="285" r:id="rId24"/>
    <p:sldId id="292" r:id="rId25"/>
    <p:sldId id="291" r:id="rId26"/>
    <p:sldId id="299" r:id="rId27"/>
    <p:sldId id="286" r:id="rId28"/>
    <p:sldId id="294" r:id="rId29"/>
    <p:sldId id="297" r:id="rId30"/>
    <p:sldId id="288" r:id="rId31"/>
    <p:sldId id="295" r:id="rId32"/>
    <p:sldId id="296" r:id="rId3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723411-18AC-46B3-8719-4F350897569E}" v="4154" dt="2025-11-15T18:26:35.691"/>
    <p1510:client id="{963C4768-8FFC-EBDF-EF40-EE17F8389F78}" v="203" dt="2025-11-16T05:00:16.1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505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569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058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365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947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004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143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854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515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028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929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266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635162" y="1714154"/>
            <a:ext cx="5222915" cy="3423666"/>
          </a:xfrm>
        </p:spPr>
        <p:txBody>
          <a:bodyPr anchor="ctr">
            <a:normAutofit/>
          </a:bodyPr>
          <a:lstStyle/>
          <a:p>
            <a:pPr algn="r"/>
            <a:r>
              <a:rPr lang="ko-KR" altLang="en-US" dirty="0">
                <a:ea typeface="맑은 고딕"/>
              </a:rPr>
              <a:t>알림 </a:t>
            </a:r>
            <a:r>
              <a:rPr lang="ko-KR" altLang="en-US" dirty="0" err="1">
                <a:ea typeface="맑은 고딕"/>
              </a:rPr>
              <a:t>아키텍쳐</a:t>
            </a:r>
            <a:r>
              <a:rPr lang="ko-KR" altLang="en-US" dirty="0">
                <a:ea typeface="맑은 고딕"/>
              </a:rPr>
              <a:t> </a:t>
            </a:r>
            <a:r>
              <a:rPr lang="ko-KR" altLang="en-US" dirty="0" err="1">
                <a:ea typeface="맑은 고딕"/>
              </a:rPr>
              <a:t>개선기</a:t>
            </a:r>
            <a:endParaRPr lang="ko-KR" altLang="en-US">
              <a:ea typeface="맑은 고딕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5D914A-3DDC-EA91-5573-2B1513BD5BB2}"/>
              </a:ext>
            </a:extLst>
          </p:cNvPr>
          <p:cNvSpPr txBox="1"/>
          <p:nvPr/>
        </p:nvSpPr>
        <p:spPr>
          <a:xfrm>
            <a:off x="2028701" y="407719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/>
              <a:t>7기 BE 투다</a:t>
            </a:r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EEB8F3-A021-2CFB-9F46-439119130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지난 이야기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FC6481-35EC-4FD8-8F79-0E53217BA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dirty="0"/>
              <a:t>메시지 그 자체를 데이터베이스에 저장하여 영속성을 보장하자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ko-KR" altLang="en-US" sz="2000" dirty="0"/>
              <a:t>알림을 </a:t>
            </a:r>
            <a:r>
              <a:rPr lang="ko-KR" altLang="en-US" sz="2000" dirty="0" err="1"/>
              <a:t>보낼때마다</a:t>
            </a:r>
            <a:r>
              <a:rPr lang="ko-KR" altLang="en-US" sz="2000" dirty="0"/>
              <a:t> 데이터베이스를 조회하게 된다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ko-KR" altLang="en-US" sz="2000" dirty="0"/>
              <a:t>향후 병목이 생기는 지점이 무엇이 있을지 생각해보았고 </a:t>
            </a:r>
            <a:r>
              <a:rPr lang="ko-KR" altLang="en-US" sz="2000" dirty="0" err="1"/>
              <a:t>공유해보려고함</a:t>
            </a:r>
            <a:endParaRPr lang="ko-KR" altLang="en-US" sz="2000"/>
          </a:p>
        </p:txBody>
      </p:sp>
    </p:spTree>
    <p:extLst>
      <p:ext uri="{BB962C8B-B14F-4D97-AF65-F5344CB8AC3E}">
        <p14:creationId xmlns:p14="http://schemas.microsoft.com/office/powerpoint/2010/main" val="1035775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38169-0673-2F96-EEEE-D9CAA825A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4708BA-4722-C14B-25B6-F1E2848A4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현재 </a:t>
            </a:r>
            <a:r>
              <a:rPr lang="ko-KR" altLang="en-US" dirty="0" err="1"/>
              <a:t>아키텍쳐</a:t>
            </a:r>
          </a:p>
        </p:txBody>
      </p:sp>
      <p:pic>
        <p:nvPicPr>
          <p:cNvPr id="5" name="그림 4" descr="도표, 스케치, 기술 도면, 평면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30CBE6-5707-FCB6-F98C-66C966F2F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840" y="1191692"/>
            <a:ext cx="6992317" cy="51849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F04FA3-235D-7BC6-8FC5-92F418696711}"/>
              </a:ext>
            </a:extLst>
          </p:cNvPr>
          <p:cNvSpPr txBox="1"/>
          <p:nvPr/>
        </p:nvSpPr>
        <p:spPr>
          <a:xfrm>
            <a:off x="5592304" y="6432789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/>
              <a:t>현재 </a:t>
            </a:r>
            <a:r>
              <a:rPr lang="ko-KR" altLang="en-US" dirty="0" err="1"/>
              <a:t>아키텍쳐</a:t>
            </a:r>
          </a:p>
        </p:txBody>
      </p:sp>
    </p:spTree>
    <p:extLst>
      <p:ext uri="{BB962C8B-B14F-4D97-AF65-F5344CB8AC3E}">
        <p14:creationId xmlns:p14="http://schemas.microsoft.com/office/powerpoint/2010/main" val="832630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DBDCE-4675-520E-4535-2141224B7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0F0302-5D9A-1092-3053-CD1B99354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현재 </a:t>
            </a:r>
            <a:r>
              <a:rPr lang="ko-KR" altLang="en-US" dirty="0" err="1"/>
              <a:t>아키텍쳐</a:t>
            </a:r>
          </a:p>
        </p:txBody>
      </p:sp>
      <p:pic>
        <p:nvPicPr>
          <p:cNvPr id="5" name="그림 4" descr="도표, 스케치, 기술 도면, 평면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CCC7FA0-8DCF-1E71-9C11-EE899D80F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840" y="1114200"/>
            <a:ext cx="6992317" cy="5184955"/>
          </a:xfrm>
          <a:prstGeom prst="rect">
            <a:avLst/>
          </a:prstGeom>
        </p:spPr>
      </p:pic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80B5BD69-FFEA-35C3-CBE4-3569A3886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dirty="0"/>
              <a:t>특히 중요한 알림 부분을 살펴보자.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F61F2E0-84BC-B14E-79E4-B470F66CC08A}"/>
              </a:ext>
            </a:extLst>
          </p:cNvPr>
          <p:cNvSpPr/>
          <p:nvPr/>
        </p:nvSpPr>
        <p:spPr>
          <a:xfrm>
            <a:off x="5451603" y="5377465"/>
            <a:ext cx="3414346" cy="8645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7736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21186-6635-AB4D-B6F3-A175ECE9F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905797-D1CE-F602-2930-3B9A45DFF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현재 </a:t>
            </a:r>
            <a:r>
              <a:rPr lang="ko-KR" altLang="en-US" dirty="0" err="1"/>
              <a:t>아키텍쳐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D3BB7A4E-C95F-C455-8713-E59EB4477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dirty="0"/>
              <a:t>현 알림 전송 프로세스(DB </a:t>
            </a:r>
            <a:r>
              <a:rPr lang="ko-KR" altLang="en-US" dirty="0" err="1"/>
              <a:t>풀링</a:t>
            </a:r>
            <a:r>
              <a:rPr lang="ko-KR" altLang="en-US" dirty="0"/>
              <a:t> 방식)</a:t>
            </a:r>
          </a:p>
          <a:p>
            <a:pPr lvl="1"/>
            <a:r>
              <a:rPr lang="ko-KR" altLang="en-US" dirty="0"/>
              <a:t>  알림은 1분마다 </a:t>
            </a:r>
            <a:r>
              <a:rPr lang="ko-KR" altLang="en-US" dirty="0" err="1"/>
              <a:t>스케줄링하여</a:t>
            </a:r>
            <a:r>
              <a:rPr lang="ko-KR" altLang="en-US" dirty="0"/>
              <a:t> 전송한다.</a:t>
            </a:r>
          </a:p>
          <a:p>
            <a:pPr marL="571500" lvl="1" indent="-342900">
              <a:buFont typeface="Arial"/>
            </a:pPr>
            <a:r>
              <a:rPr lang="ko-KR" altLang="en-US" dirty="0"/>
              <a:t>서버는 분산되어 있다. </a:t>
            </a:r>
          </a:p>
          <a:p>
            <a:pPr marL="571500" lvl="1" indent="-342900"/>
            <a:endParaRPr lang="ko-KR" altLang="en-US" dirty="0"/>
          </a:p>
        </p:txBody>
      </p:sp>
      <p:pic>
        <p:nvPicPr>
          <p:cNvPr id="7" name="그림 6" descr="도표, 스케치, 기술 도면, 그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75D242A-73ED-327E-3D2A-70D199151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3926" y="0"/>
            <a:ext cx="60156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351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9A945-3A6F-0580-3E97-95E96DC10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BD7FAD-A435-B3A0-E820-0E8D1ABF2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 1. 중복 알림 전송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CE284467-B250-19B6-D0B4-3E5E72729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dirty="0"/>
              <a:t>각각의 분산된 서버들이 스케줄링 한다면?</a:t>
            </a:r>
          </a:p>
          <a:p>
            <a:pPr lvl="1"/>
            <a:r>
              <a:rPr lang="ko-KR" altLang="en-US" dirty="0"/>
              <a:t>1분마다 모든 알림 이벤트들을 조회하여 전송한다</a:t>
            </a:r>
            <a:endParaRPr lang="ko-KR" dirty="0"/>
          </a:p>
          <a:p>
            <a:pPr lvl="1"/>
            <a:r>
              <a:rPr lang="ko-KR" altLang="en-US" dirty="0"/>
              <a:t>중복된 메일을 전송한다</a:t>
            </a:r>
            <a:endParaRPr lang="ko-KR" dirty="0"/>
          </a:p>
        </p:txBody>
      </p:sp>
      <p:pic>
        <p:nvPicPr>
          <p:cNvPr id="4" name="그림 3" descr="텍스트, 도표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6CC87F0-C998-D3AD-C940-AB3F33454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8362" y="3200400"/>
            <a:ext cx="7915275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987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5CEAB-0146-D619-21B0-4048E5F51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FDAEA9-5ACD-01DC-5C27-CC74C67FA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중복 알림 전송 해결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919AA07A-9601-051E-65F2-A7E5D59F8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dirty="0" err="1"/>
              <a:t>락을</a:t>
            </a:r>
            <a:r>
              <a:rPr lang="ko-KR" altLang="en-US" dirty="0"/>
              <a:t> 걸어서 해결하자 (</a:t>
            </a:r>
            <a:r>
              <a:rPr lang="ko-KR" altLang="en-US" dirty="0" err="1"/>
              <a:t>비관적락을</a:t>
            </a:r>
            <a:r>
              <a:rPr lang="ko-KR" altLang="en-US" dirty="0"/>
              <a:t> 예로 들자)</a:t>
            </a:r>
          </a:p>
          <a:p>
            <a:pPr lvl="1"/>
            <a:r>
              <a:rPr lang="ko-KR" altLang="en-US" dirty="0"/>
              <a:t>1개의 인스턴스가 1분마다 모든 알림 이벤트를 조회한다.</a:t>
            </a:r>
            <a:endParaRPr lang="ko-KR" dirty="0"/>
          </a:p>
          <a:p>
            <a:pPr lvl="1"/>
            <a:r>
              <a:rPr lang="ko-KR" altLang="en-US" err="1"/>
              <a:t>락을</a:t>
            </a:r>
            <a:r>
              <a:rPr lang="ko-KR" altLang="en-US" dirty="0"/>
              <a:t> 획득한 </a:t>
            </a:r>
            <a:r>
              <a:rPr lang="ko-KR" altLang="en-US" u="sng" dirty="0"/>
              <a:t>1개의 인스턴스</a:t>
            </a:r>
            <a:r>
              <a:rPr lang="ko-KR" altLang="en-US" dirty="0"/>
              <a:t>만 메일을 전송한다</a:t>
            </a:r>
            <a:endParaRPr lang="ko-KR"/>
          </a:p>
        </p:txBody>
      </p:sp>
      <p:pic>
        <p:nvPicPr>
          <p:cNvPr id="6" name="그림 5" descr="텍스트, 도표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1B6EB24-4272-D3B9-F741-3C69A68EA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186" y="3148563"/>
            <a:ext cx="7910594" cy="280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775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2A170-347D-BB68-B9A6-5668FDC56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C14480-263C-A25A-34D7-F150398AE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만약 알림 데이터가 많아진다면?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49DF50-616E-452C-56E2-EC7DF105A2FC}"/>
              </a:ext>
            </a:extLst>
          </p:cNvPr>
          <p:cNvSpPr txBox="1"/>
          <p:nvPr/>
        </p:nvSpPr>
        <p:spPr>
          <a:xfrm>
            <a:off x="833406" y="4550515"/>
            <a:ext cx="688829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b="1" dirty="0"/>
              <a:t>현 </a:t>
            </a:r>
            <a:r>
              <a:rPr lang="ko-KR" altLang="en-US" b="1" dirty="0" err="1"/>
              <a:t>아키텍쳐가</a:t>
            </a:r>
            <a:r>
              <a:rPr lang="ko-KR" altLang="en-US" b="1" dirty="0"/>
              <a:t> 데이터가 많아져도 대응할 수 있는 구조인지 살펴보자</a:t>
            </a:r>
          </a:p>
        </p:txBody>
      </p:sp>
      <p:pic>
        <p:nvPicPr>
          <p:cNvPr id="5" name="내용 개체 틀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7A65CE2-8401-AA0A-EDBD-CA4513901F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7302" y="1456598"/>
            <a:ext cx="9288166" cy="2728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14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AFD59-4EEA-9BF7-7E60-D5DD743E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3DE9E1-C6FB-4A74-A70C-DDCFD3E1C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 2. 확장성 부재</a:t>
            </a:r>
          </a:p>
        </p:txBody>
      </p:sp>
      <p:pic>
        <p:nvPicPr>
          <p:cNvPr id="13" name="그림 12" descr="텍스트, 도표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CF6DECE-57CD-236C-FBA1-FD129BAB4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491" y="1333970"/>
            <a:ext cx="7910594" cy="280813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8DA885B-ACB2-D0BB-ED6A-C2FDDDB2E0A1}"/>
              </a:ext>
            </a:extLst>
          </p:cNvPr>
          <p:cNvSpPr txBox="1"/>
          <p:nvPr/>
        </p:nvSpPr>
        <p:spPr>
          <a:xfrm>
            <a:off x="4715806" y="5039060"/>
            <a:ext cx="596908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/>
              <a:t>한개의 인스턴스가 모든 알림 데이터를 처리하고 있군..</a:t>
            </a:r>
          </a:p>
        </p:txBody>
      </p:sp>
      <p:pic>
        <p:nvPicPr>
          <p:cNvPr id="17" name="그림 16" descr="hmm Meme 생성기">
            <a:extLst>
              <a:ext uri="{FF2B5EF4-FFF2-40B4-BE49-F238E27FC236}">
                <a16:creationId xmlns:a16="http://schemas.microsoft.com/office/drawing/2014/main" id="{D3BF4C33-B608-13F4-992F-D1502792E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662" y="4259128"/>
            <a:ext cx="2352675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784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EF421-CBAA-2B29-B7C3-12006E700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A3D4AB-FED4-F186-DE84-1A0C5BEB1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 2. 확장성 부재</a:t>
            </a:r>
          </a:p>
        </p:txBody>
      </p:sp>
      <p:pic>
        <p:nvPicPr>
          <p:cNvPr id="6" name="내용 개체 틀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B79DFA7-BDF5-9760-31FB-A9F3A96E61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4396" y="1441665"/>
            <a:ext cx="7343775" cy="2971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2B04552-C3F2-5F16-06A3-B9A421EA5C3D}"/>
              </a:ext>
            </a:extLst>
          </p:cNvPr>
          <p:cNvSpPr txBox="1"/>
          <p:nvPr/>
        </p:nvSpPr>
        <p:spPr>
          <a:xfrm>
            <a:off x="4546542" y="4892769"/>
            <a:ext cx="703682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항상 한개의 인스턴스만 일한다 - </a:t>
            </a:r>
            <a:r>
              <a:rPr lang="ko-KR" altLang="en-US" b="1" dirty="0"/>
              <a:t>확장성의 부재</a:t>
            </a:r>
            <a:endParaRPr lang="ko-KR"/>
          </a:p>
          <a:p>
            <a:pPr marL="342900" indent="-342900">
              <a:buAutoNum type="arabicPeriod"/>
            </a:pPr>
            <a:r>
              <a:rPr lang="ko-KR" altLang="en-US" dirty="0"/>
              <a:t>모든 데이터를 다 가져온다 </a:t>
            </a:r>
          </a:p>
          <a:p>
            <a:r>
              <a:rPr lang="ko-KR" altLang="en-US" dirty="0"/>
              <a:t>      - 메모리, CPU, 커넥션 오래 점유 등 리소스 소요가 크다</a:t>
            </a:r>
            <a:endParaRPr lang="ko-KR"/>
          </a:p>
        </p:txBody>
      </p:sp>
      <p:pic>
        <p:nvPicPr>
          <p:cNvPr id="4" name="그림 3" descr="The URETHRA!! Meme: Origins, Examples, Variations">
            <a:extLst>
              <a:ext uri="{FF2B5EF4-FFF2-40B4-BE49-F238E27FC236}">
                <a16:creationId xmlns:a16="http://schemas.microsoft.com/office/drawing/2014/main" id="{18BC62BC-499E-2BDB-BF70-E7803624E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525" y="4686542"/>
            <a:ext cx="3028950" cy="15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682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7F146-5E9B-06F9-4D11-F534F31C3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4D9CBA-97BB-3EEA-BB05-2E04A1AC7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개선 1. 배치 적용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E63491-26F1-4C8E-7EFA-BE6E10C4979E}"/>
              </a:ext>
            </a:extLst>
          </p:cNvPr>
          <p:cNvSpPr txBox="1"/>
          <p:nvPr/>
        </p:nvSpPr>
        <p:spPr>
          <a:xfrm>
            <a:off x="613846" y="1676870"/>
            <a:ext cx="596485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/>
              <a:t>모든 데이터를 가져와 처리하는 문제를 개선해보자.</a:t>
            </a:r>
            <a:endParaRPr lang="ko-KR" b="1" dirty="0"/>
          </a:p>
          <a:p>
            <a:pPr marL="285750" indent="-285750">
              <a:buFont typeface="Arial"/>
              <a:buChar char="•"/>
            </a:pPr>
            <a:r>
              <a:rPr lang="ko-KR" altLang="en-US" dirty="0"/>
              <a:t>이를 위해</a:t>
            </a:r>
            <a:r>
              <a:rPr lang="ko-KR" altLang="en-US" b="1" dirty="0"/>
              <a:t> DB 배치 </a:t>
            </a:r>
            <a:r>
              <a:rPr lang="ko-KR" altLang="en-US" b="1" dirty="0" err="1"/>
              <a:t>풀링</a:t>
            </a:r>
            <a:r>
              <a:rPr lang="ko-KR" altLang="en-US" dirty="0"/>
              <a:t> 방식으로 전환하자</a:t>
            </a:r>
            <a:endParaRPr lang="ko-KR" b="1"/>
          </a:p>
        </p:txBody>
      </p:sp>
      <p:pic>
        <p:nvPicPr>
          <p:cNvPr id="3" name="그림 2" descr="텍스트, 스크린샷, 폰트, 멀티미디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60446E3-DA06-2EFD-101F-9933ED2E3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689" y="2597096"/>
            <a:ext cx="4150317" cy="3200723"/>
          </a:xfrm>
          <a:prstGeom prst="rect">
            <a:avLst/>
          </a:prstGeom>
        </p:spPr>
      </p:pic>
      <p:pic>
        <p:nvPicPr>
          <p:cNvPr id="4" name="그림 3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6AF5FDE-E01A-AD6B-88E1-2FB446311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3719" y="2599679"/>
            <a:ext cx="3985325" cy="3344083"/>
          </a:xfrm>
          <a:prstGeom prst="rect">
            <a:avLst/>
          </a:prstGeom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484ADD3A-2764-41EF-6B8F-C357076AD7FF}"/>
              </a:ext>
            </a:extLst>
          </p:cNvPr>
          <p:cNvSpPr/>
          <p:nvPr/>
        </p:nvSpPr>
        <p:spPr>
          <a:xfrm>
            <a:off x="5686933" y="3959146"/>
            <a:ext cx="978407" cy="4846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0165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627EA-C491-F7B7-F813-ED2BA1FEF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0F7FFF-5378-8BDD-1B1F-F0CA975DF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기존 </a:t>
            </a:r>
            <a:r>
              <a:rPr lang="ko-KR" altLang="en-US" dirty="0" err="1"/>
              <a:t>락</a:t>
            </a:r>
            <a:r>
              <a:rPr lang="ko-KR" altLang="en-US" dirty="0"/>
              <a:t> 방식의 문제점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768F53-63C2-1031-B14F-1199D579FDA6}"/>
              </a:ext>
            </a:extLst>
          </p:cNvPr>
          <p:cNvSpPr txBox="1"/>
          <p:nvPr/>
        </p:nvSpPr>
        <p:spPr>
          <a:xfrm>
            <a:off x="613846" y="1489599"/>
            <a:ext cx="727575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 err="1"/>
              <a:t>락으로</a:t>
            </a:r>
            <a:r>
              <a:rPr lang="ko-KR" altLang="en-US" dirty="0"/>
              <a:t> 중복 문제를 해결했었다.</a:t>
            </a:r>
            <a:endParaRPr lang="ko-KR" dirty="0"/>
          </a:p>
          <a:p>
            <a:r>
              <a:rPr lang="ko-KR" altLang="en-US" dirty="0"/>
              <a:t>그런데 기존 방식의 </a:t>
            </a:r>
            <a:r>
              <a:rPr lang="ko-KR" altLang="en-US" dirty="0" err="1"/>
              <a:t>락은</a:t>
            </a:r>
            <a:r>
              <a:rPr lang="ko-KR" altLang="en-US" dirty="0"/>
              <a:t> 비관적 </a:t>
            </a:r>
            <a:r>
              <a:rPr lang="ko-KR" altLang="en-US" dirty="0" err="1"/>
              <a:t>락이다</a:t>
            </a:r>
            <a:r>
              <a:rPr lang="ko-KR" altLang="en-US" dirty="0"/>
              <a:t>.</a:t>
            </a:r>
            <a:endParaRPr lang="ko-KR" dirty="0"/>
          </a:p>
          <a:p>
            <a:r>
              <a:rPr lang="ko-KR" altLang="en-US" dirty="0"/>
              <a:t>-&gt; 병목이 생긴다</a:t>
            </a:r>
            <a:endParaRPr lang="ko-KR" dirty="0"/>
          </a:p>
        </p:txBody>
      </p:sp>
      <p:pic>
        <p:nvPicPr>
          <p:cNvPr id="8" name="그림 7" descr="텍스트, 도표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E59F2F6-FE71-A40B-248D-0C3031F68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186" y="3148563"/>
            <a:ext cx="7910594" cy="280813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F7A71438-9A48-D394-AB73-66A62124F8DF}"/>
              </a:ext>
            </a:extLst>
          </p:cNvPr>
          <p:cNvSpPr/>
          <p:nvPr/>
        </p:nvSpPr>
        <p:spPr>
          <a:xfrm>
            <a:off x="6455019" y="4349590"/>
            <a:ext cx="1523999" cy="1128346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0F794E-4ECC-6700-04A2-97853CFB2DF4}"/>
              </a:ext>
            </a:extLst>
          </p:cNvPr>
          <p:cNvSpPr txBox="1"/>
          <p:nvPr/>
        </p:nvSpPr>
        <p:spPr>
          <a:xfrm>
            <a:off x="5423786" y="5948468"/>
            <a:ext cx="35817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b="1" dirty="0"/>
              <a:t>기다리는 인스턴스는 놀게 된다.</a:t>
            </a:r>
          </a:p>
        </p:txBody>
      </p:sp>
    </p:spTree>
    <p:extLst>
      <p:ext uri="{BB962C8B-B14F-4D97-AF65-F5344CB8AC3E}">
        <p14:creationId xmlns:p14="http://schemas.microsoft.com/office/powerpoint/2010/main" val="1920332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79C84-4DDA-4B18-2A57-666BA41E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0B1D9E-21C2-3CFD-FFC0-FAA999709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개선 2. </a:t>
            </a:r>
            <a:r>
              <a:rPr lang="ko-KR" altLang="en-US" dirty="0" err="1"/>
              <a:t>락</a:t>
            </a:r>
            <a:r>
              <a:rPr lang="ko-KR" altLang="en-US" dirty="0"/>
              <a:t> 개선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A62696-7564-0779-CBD9-BB33C2EDE739}"/>
              </a:ext>
            </a:extLst>
          </p:cNvPr>
          <p:cNvSpPr txBox="1"/>
          <p:nvPr/>
        </p:nvSpPr>
        <p:spPr>
          <a:xfrm>
            <a:off x="613846" y="1676870"/>
            <a:ext cx="5964858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/>
              <a:t>기다리는 </a:t>
            </a:r>
            <a:r>
              <a:rPr lang="ko-KR" altLang="en-US" dirty="0" err="1"/>
              <a:t>락이</a:t>
            </a:r>
            <a:r>
              <a:rPr lang="ko-KR" altLang="en-US" dirty="0"/>
              <a:t> 아닌, </a:t>
            </a:r>
            <a:r>
              <a:rPr lang="ko-KR" altLang="en-US" b="1" dirty="0"/>
              <a:t>생략</a:t>
            </a:r>
            <a:r>
              <a:rPr lang="ko-KR" altLang="en-US" dirty="0"/>
              <a:t>하는 </a:t>
            </a:r>
            <a:r>
              <a:rPr lang="ko-KR" altLang="en-US" dirty="0" err="1"/>
              <a:t>락은</a:t>
            </a:r>
            <a:r>
              <a:rPr lang="ko-KR" altLang="en-US" dirty="0"/>
              <a:t> 없을까?</a:t>
            </a:r>
            <a:endParaRPr lang="ko-KR"/>
          </a:p>
          <a:p>
            <a:endParaRPr lang="ko-KR" altLang="en-US" dirty="0"/>
          </a:p>
          <a:p>
            <a:r>
              <a:rPr lang="ko-KR" altLang="en-US" b="1" dirty="0" err="1"/>
              <a:t>is</a:t>
            </a:r>
            <a:r>
              <a:rPr lang="ko-KR" altLang="en-US" b="1" dirty="0"/>
              <a:t> </a:t>
            </a:r>
            <a:r>
              <a:rPr lang="ko-KR" altLang="en-US" b="1" dirty="0" err="1"/>
              <a:t>스킵락</a:t>
            </a:r>
            <a:r>
              <a:rPr lang="ko-KR" altLang="en-US" b="1" dirty="0"/>
              <a:t>(</a:t>
            </a:r>
            <a:r>
              <a:rPr lang="ko-KR" altLang="en-US" b="1" dirty="0" err="1"/>
              <a:t>skip</a:t>
            </a:r>
            <a:r>
              <a:rPr lang="ko-KR" altLang="en-US" b="1" dirty="0"/>
              <a:t> </a:t>
            </a:r>
            <a:r>
              <a:rPr lang="ko-KR" altLang="en-US" b="1" dirty="0" err="1"/>
              <a:t>lock</a:t>
            </a:r>
            <a:r>
              <a:rPr lang="ko-KR" altLang="en-US" b="1" dirty="0"/>
              <a:t>)</a:t>
            </a:r>
          </a:p>
          <a:p>
            <a:endParaRPr lang="ko-KR" altLang="en-US" dirty="0"/>
          </a:p>
          <a:p>
            <a:r>
              <a:rPr lang="ko-KR" altLang="en-US" dirty="0" err="1"/>
              <a:t>스킵락을</a:t>
            </a:r>
            <a:r>
              <a:rPr lang="ko-KR" altLang="en-US" dirty="0"/>
              <a:t> 사용하면 </a:t>
            </a:r>
            <a:r>
              <a:rPr lang="ko-KR" altLang="en-US" dirty="0" err="1"/>
              <a:t>락을</a:t>
            </a:r>
            <a:r>
              <a:rPr lang="ko-KR" altLang="en-US" dirty="0"/>
              <a:t> 걸어도 </a:t>
            </a:r>
          </a:p>
          <a:p>
            <a:r>
              <a:rPr lang="ko-KR" altLang="en-US" dirty="0"/>
              <a:t>기다리지 않아 병목이 적다</a:t>
            </a:r>
            <a:endParaRPr lang="ko-KR" dirty="0"/>
          </a:p>
        </p:txBody>
      </p: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C5DBF31-FBBB-E4FA-1F31-4FA7E0AC2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932" y="2094593"/>
            <a:ext cx="6619068" cy="3527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0568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FDC9E-9EF3-25AE-527B-262D0A323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670697-5579-D7E3-A6E1-7F99045C5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해치웠나?</a:t>
            </a:r>
          </a:p>
        </p:txBody>
      </p:sp>
      <p:pic>
        <p:nvPicPr>
          <p:cNvPr id="7" name="그림 6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0C4161B-4979-A83C-B671-B55AFECB2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027" y="1528923"/>
            <a:ext cx="7272741" cy="143666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4F31A38D-E95C-05D4-2792-87ABE4584925}"/>
              </a:ext>
            </a:extLst>
          </p:cNvPr>
          <p:cNvSpPr/>
          <p:nvPr/>
        </p:nvSpPr>
        <p:spPr>
          <a:xfrm>
            <a:off x="564696" y="2462892"/>
            <a:ext cx="6599464" cy="4150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28648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4D2D3-A039-038F-EF8F-C9C2B943F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DB072D-627C-F05E-FB36-145E2F977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개선 3. </a:t>
            </a:r>
            <a:r>
              <a:rPr lang="ko-KR" altLang="en-US" dirty="0" err="1"/>
              <a:t>DB의</a:t>
            </a:r>
            <a:r>
              <a:rPr lang="ko-KR" altLang="en-US" dirty="0"/>
              <a:t> 부담 줄이기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41C05C-6A7D-FAE0-36C4-2580C18C09C8}"/>
              </a:ext>
            </a:extLst>
          </p:cNvPr>
          <p:cNvSpPr txBox="1"/>
          <p:nvPr/>
        </p:nvSpPr>
        <p:spPr>
          <a:xfrm>
            <a:off x="376423" y="1492704"/>
            <a:ext cx="658441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/>
              <a:t>데이터베이스의 부담을 줄이는 방법은 다양하다.</a:t>
            </a:r>
          </a:p>
          <a:p>
            <a:r>
              <a:rPr lang="ko-KR" altLang="en-US" dirty="0"/>
              <a:t>이번에도 확장이란 키워드로 접근해보자.</a:t>
            </a:r>
          </a:p>
          <a:p>
            <a:endParaRPr lang="ko-KR" altLang="en-US" dirty="0"/>
          </a:p>
        </p:txBody>
      </p:sp>
      <p:pic>
        <p:nvPicPr>
          <p:cNvPr id="20" name="그림 19" descr="도표, 스케치, 기술 도면, 평면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AF48F53-A344-2B0B-EA98-C9E0F774F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3738" y="1953693"/>
            <a:ext cx="5913894" cy="4358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6291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35292-4B18-9FBB-AAF0-A0B4ADFEE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429148-0205-81F7-8893-965C2575C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개선 3. </a:t>
            </a:r>
            <a:r>
              <a:rPr lang="ko-KR" altLang="en-US" dirty="0" err="1"/>
              <a:t>DB의</a:t>
            </a:r>
            <a:r>
              <a:rPr lang="ko-KR" altLang="en-US" dirty="0"/>
              <a:t> 부담 줄이기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EE0385-2A22-8FB6-6362-480EE07C74B8}"/>
              </a:ext>
            </a:extLst>
          </p:cNvPr>
          <p:cNvSpPr txBox="1"/>
          <p:nvPr/>
        </p:nvSpPr>
        <p:spPr>
          <a:xfrm>
            <a:off x="488279" y="1014839"/>
            <a:ext cx="7068739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ko-KR" altLang="en-US" dirty="0"/>
          </a:p>
          <a:p>
            <a:endParaRPr lang="ko-KR" altLang="en-US" dirty="0"/>
          </a:p>
          <a:p>
            <a:r>
              <a:rPr lang="ko-KR" altLang="en-US" dirty="0"/>
              <a:t>기존 우리 웹 애플리케이션에서는 쓰기가 적고 정합성이 중요하기 때문에 </a:t>
            </a:r>
          </a:p>
          <a:p>
            <a:r>
              <a:rPr lang="ko-KR" altLang="en-US" dirty="0"/>
              <a:t>쓰기 확장이 크게 </a:t>
            </a:r>
            <a:r>
              <a:rPr lang="ko-KR" altLang="en-US" err="1"/>
              <a:t>필요없는</a:t>
            </a:r>
            <a:r>
              <a:rPr lang="ko-KR" altLang="en-US" b="1" dirty="0"/>
              <a:t> </a:t>
            </a:r>
            <a:r>
              <a:rPr lang="ko-KR" altLang="en-US" b="1" err="1"/>
              <a:t>Master</a:t>
            </a:r>
            <a:r>
              <a:rPr lang="ko-KR" altLang="en-US" b="1" dirty="0"/>
              <a:t> </a:t>
            </a:r>
            <a:r>
              <a:rPr lang="ko-KR" altLang="en-US" b="1" err="1"/>
              <a:t>Slave</a:t>
            </a:r>
            <a:r>
              <a:rPr lang="ko-KR" altLang="en-US" dirty="0"/>
              <a:t> 구조를 선택하였다.</a:t>
            </a:r>
          </a:p>
          <a:p>
            <a:endParaRPr lang="ko-KR" altLang="en-US" dirty="0"/>
          </a:p>
        </p:txBody>
      </p:sp>
      <p:pic>
        <p:nvPicPr>
          <p:cNvPr id="16" name="그림 15" descr="Database Replication">
            <a:extLst>
              <a:ext uri="{FF2B5EF4-FFF2-40B4-BE49-F238E27FC236}">
                <a16:creationId xmlns:a16="http://schemas.microsoft.com/office/drawing/2014/main" id="{BBD51018-2823-689D-FF35-82F45D9E2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945" y="1517945"/>
            <a:ext cx="4648683" cy="4015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8315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27C93-D289-6594-FF05-68372632A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2B153B-1201-1989-31BB-F2C5E93BB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복제 지연</a:t>
            </a:r>
          </a:p>
        </p:txBody>
      </p:sp>
      <p:pic>
        <p:nvPicPr>
          <p:cNvPr id="3" name="그림 2" descr="복제 지연 다이어그램">
            <a:extLst>
              <a:ext uri="{FF2B5EF4-FFF2-40B4-BE49-F238E27FC236}">
                <a16:creationId xmlns:a16="http://schemas.microsoft.com/office/drawing/2014/main" id="{9B66DA45-B0AD-69D4-BE89-18A999524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9769" y="2397708"/>
            <a:ext cx="6553199" cy="25461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7849956-12A8-F3ED-5CCE-0DC7BD625999}"/>
              </a:ext>
            </a:extLst>
          </p:cNvPr>
          <p:cNvSpPr txBox="1"/>
          <p:nvPr/>
        </p:nvSpPr>
        <p:spPr>
          <a:xfrm>
            <a:off x="218567" y="1418814"/>
            <a:ext cx="542192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 err="1"/>
              <a:t>Master</a:t>
            </a:r>
            <a:r>
              <a:rPr lang="ko-KR" altLang="en-US" dirty="0"/>
              <a:t> </a:t>
            </a:r>
            <a:r>
              <a:rPr lang="ko-KR" altLang="en-US" dirty="0" err="1"/>
              <a:t>Slave</a:t>
            </a:r>
            <a:r>
              <a:rPr lang="ko-KR" altLang="en-US" dirty="0"/>
              <a:t> 구조에서는 복제 지연 문제가 발생한다.</a:t>
            </a:r>
          </a:p>
          <a:p>
            <a:r>
              <a:rPr lang="ko-KR" altLang="en-US" dirty="0"/>
              <a:t>복제지연은 쓰기 작업시에 </a:t>
            </a:r>
          </a:p>
          <a:p>
            <a:r>
              <a:rPr lang="ko-KR" altLang="en-US" dirty="0"/>
              <a:t>다른 </a:t>
            </a:r>
            <a:r>
              <a:rPr lang="ko-KR" altLang="en-US" dirty="0" err="1"/>
              <a:t>slave</a:t>
            </a:r>
            <a:r>
              <a:rPr lang="ko-KR" altLang="en-US" dirty="0"/>
              <a:t> </a:t>
            </a:r>
            <a:r>
              <a:rPr lang="ko-KR" altLang="en-US" dirty="0" err="1"/>
              <a:t>DB들까지</a:t>
            </a:r>
            <a:r>
              <a:rPr lang="ko-KR" altLang="en-US" dirty="0"/>
              <a:t> 반영되기에 시간이 소요되는 것</a:t>
            </a:r>
          </a:p>
        </p:txBody>
      </p:sp>
    </p:spTree>
    <p:extLst>
      <p:ext uri="{BB962C8B-B14F-4D97-AF65-F5344CB8AC3E}">
        <p14:creationId xmlns:p14="http://schemas.microsoft.com/office/powerpoint/2010/main" val="19480318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6DB07-EDF5-5941-548A-94CC732DB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190E47-1479-B729-C055-A5B757599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복제 지연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FD2AC0-70DA-BACA-5132-0CC231C39062}"/>
              </a:ext>
            </a:extLst>
          </p:cNvPr>
          <p:cNvSpPr txBox="1"/>
          <p:nvPr/>
        </p:nvSpPr>
        <p:spPr>
          <a:xfrm>
            <a:off x="497984" y="1778578"/>
            <a:ext cx="486196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/>
              <a:t>엥? 알림 조회만 하는데 </a:t>
            </a:r>
          </a:p>
          <a:p>
            <a:r>
              <a:rPr lang="ko-KR" altLang="en-US" dirty="0"/>
              <a:t>쓰기로 인해 생기는 복제지연 문제가 </a:t>
            </a:r>
            <a:r>
              <a:rPr lang="ko-KR" altLang="en-US" dirty="0" err="1"/>
              <a:t>왜생기나요</a:t>
            </a:r>
            <a:r>
              <a:rPr lang="ko-KR" altLang="en-US" dirty="0"/>
              <a:t>?</a:t>
            </a:r>
          </a:p>
        </p:txBody>
      </p:sp>
      <p:pic>
        <p:nvPicPr>
          <p:cNvPr id="5" name="그림 4" descr="우테코 프리코스를 통한 객체지향에 대한 고찰">
            <a:extLst>
              <a:ext uri="{FF2B5EF4-FFF2-40B4-BE49-F238E27FC236}">
                <a16:creationId xmlns:a16="http://schemas.microsoft.com/office/drawing/2014/main" id="{A805B3F8-79D0-7972-0484-9A3BB349D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0235" y="1777623"/>
            <a:ext cx="2162175" cy="211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2058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2730D-95B5-44B6-29E0-3BB98FFD2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D861B2-3C0E-852F-349B-99099D7A6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복제 지연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28A3AF-45AF-8FF8-6AC9-F384581C6F7F}"/>
              </a:ext>
            </a:extLst>
          </p:cNvPr>
          <p:cNvSpPr txBox="1"/>
          <p:nvPr/>
        </p:nvSpPr>
        <p:spPr>
          <a:xfrm>
            <a:off x="497984" y="1778578"/>
            <a:ext cx="486196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/>
              <a:t>사실은 거짓말을 했습니다.. </a:t>
            </a:r>
          </a:p>
        </p:txBody>
      </p:sp>
      <p:pic>
        <p:nvPicPr>
          <p:cNvPr id="3" name="그림 2" descr="파워는 아니고 그냥 가동중] 짤장고 on X">
            <a:extLst>
              <a:ext uri="{FF2B5EF4-FFF2-40B4-BE49-F238E27FC236}">
                <a16:creationId xmlns:a16="http://schemas.microsoft.com/office/drawing/2014/main" id="{F9799DA6-F8E9-565D-683A-D2E6346B9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064" y="1577120"/>
            <a:ext cx="2875084" cy="3696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9435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4012D-7073-C96D-A548-CBEB3E931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5E2243-4DEF-1B6E-5630-32EAB170E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복제 지연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2EC142-81A3-FF91-58EA-38FB9262B373}"/>
              </a:ext>
            </a:extLst>
          </p:cNvPr>
          <p:cNvSpPr txBox="1"/>
          <p:nvPr/>
        </p:nvSpPr>
        <p:spPr>
          <a:xfrm>
            <a:off x="497984" y="1778578"/>
            <a:ext cx="58877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/>
              <a:t>실제로는 쓰기도 하고 있다</a:t>
            </a:r>
          </a:p>
        </p:txBody>
      </p:sp>
      <p:pic>
        <p:nvPicPr>
          <p:cNvPr id="3" name="그림 2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E49F485-A748-1B83-0C0C-67136D14B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192" y="833407"/>
            <a:ext cx="3086617" cy="4953001"/>
          </a:xfrm>
          <a:prstGeom prst="rect">
            <a:avLst/>
          </a:prstGeom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5A22FF2D-B0E8-1308-6311-4BAD71AA753E}"/>
              </a:ext>
            </a:extLst>
          </p:cNvPr>
          <p:cNvSpPr/>
          <p:nvPr/>
        </p:nvSpPr>
        <p:spPr>
          <a:xfrm>
            <a:off x="5942134" y="3714750"/>
            <a:ext cx="1238249" cy="52753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08689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2B084-AD04-28DB-29AA-BDAF4FCF4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6DB080-57F3-4B14-C1B4-C647BD033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복제 지연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AF2F63-3C72-80AF-17A1-858AFE4BA220}"/>
              </a:ext>
            </a:extLst>
          </p:cNvPr>
          <p:cNvSpPr txBox="1"/>
          <p:nvPr/>
        </p:nvSpPr>
        <p:spPr>
          <a:xfrm>
            <a:off x="497984" y="1778578"/>
            <a:ext cx="5887737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/>
              <a:t>실제로는 쓰기도 하고 있다</a:t>
            </a:r>
          </a:p>
          <a:p>
            <a:endParaRPr lang="ko-KR" altLang="en-US" dirty="0"/>
          </a:p>
          <a:p>
            <a:r>
              <a:rPr lang="ko-KR" altLang="en-US" dirty="0"/>
              <a:t>그렇다면, 복제 지연으로 인해</a:t>
            </a:r>
          </a:p>
          <a:p>
            <a:r>
              <a:rPr lang="ko-KR" altLang="en-US" dirty="0"/>
              <a:t>이미 보낸 알림을 다른 인스턴스들이 </a:t>
            </a:r>
            <a:r>
              <a:rPr lang="ko-KR" altLang="en-US" dirty="0" err="1"/>
              <a:t>조회가능하다</a:t>
            </a:r>
            <a:endParaRPr lang="ko-KR" dirty="0" err="1"/>
          </a:p>
          <a:p>
            <a:pPr marL="285750" indent="-285750">
              <a:buFont typeface="Arial"/>
              <a:buChar char="•"/>
            </a:pPr>
            <a:r>
              <a:rPr lang="ko-KR" altLang="en-US" dirty="0"/>
              <a:t>재전송 문제 발생</a:t>
            </a:r>
            <a:endParaRPr lang="ko-KR" dirty="0"/>
          </a:p>
        </p:txBody>
      </p:sp>
      <p:pic>
        <p:nvPicPr>
          <p:cNvPr id="3" name="그림 2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0D5679A-470B-50B2-1CCC-3C0AD6213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192" y="833407"/>
            <a:ext cx="3086617" cy="4953001"/>
          </a:xfrm>
          <a:prstGeom prst="rect">
            <a:avLst/>
          </a:prstGeom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E9BCBEB1-903C-923A-7EAC-0BDBF39D6E3B}"/>
              </a:ext>
            </a:extLst>
          </p:cNvPr>
          <p:cNvSpPr/>
          <p:nvPr/>
        </p:nvSpPr>
        <p:spPr>
          <a:xfrm>
            <a:off x="5942134" y="3714750"/>
            <a:ext cx="1238249" cy="52753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33325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07342-A2F3-CB60-958F-77BC0E003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C173BE-DB7B-05F3-5F17-7BDD429FF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복제 지연 해결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5406FF-7C7A-DAA3-B58C-098A9A215F4F}"/>
              </a:ext>
            </a:extLst>
          </p:cNvPr>
          <p:cNvSpPr txBox="1"/>
          <p:nvPr/>
        </p:nvSpPr>
        <p:spPr>
          <a:xfrm>
            <a:off x="3377465" y="5531080"/>
            <a:ext cx="67962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/>
              <a:t>여러 방법이 있으나 근본적인 해결을 위한 </a:t>
            </a:r>
            <a:r>
              <a:rPr lang="ko-KR" altLang="en-US" b="1" dirty="0" err="1"/>
              <a:t>Master</a:t>
            </a:r>
            <a:r>
              <a:rPr lang="ko-KR" altLang="en-US" b="1" dirty="0"/>
              <a:t> 강제 읽기 </a:t>
            </a:r>
            <a:r>
              <a:rPr lang="ko-KR" altLang="en-US" dirty="0"/>
              <a:t>도입!</a:t>
            </a:r>
          </a:p>
        </p:txBody>
      </p:sp>
      <p:pic>
        <p:nvPicPr>
          <p:cNvPr id="10" name="그림 9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FF7244D-0617-560A-CD64-31801FACB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6278" y="1392115"/>
            <a:ext cx="5382251" cy="4081097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16A71FEE-729C-F06F-35B9-8AB4B914A02D}"/>
              </a:ext>
            </a:extLst>
          </p:cNvPr>
          <p:cNvSpPr/>
          <p:nvPr/>
        </p:nvSpPr>
        <p:spPr>
          <a:xfrm>
            <a:off x="4205654" y="3260480"/>
            <a:ext cx="5260729" cy="337039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15218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D24B4-C202-B09C-DF08-3554DC2B5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A86A65-8472-F549-1400-0F6D3CFE1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복제시</a:t>
            </a:r>
            <a:r>
              <a:rPr lang="ko-KR" altLang="en-US" dirty="0"/>
              <a:t> 생기는 문제점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27A2D0-1799-818F-0A2B-501A7C0942EE}"/>
              </a:ext>
            </a:extLst>
          </p:cNvPr>
          <p:cNvSpPr txBox="1"/>
          <p:nvPr/>
        </p:nvSpPr>
        <p:spPr>
          <a:xfrm>
            <a:off x="497984" y="1778578"/>
            <a:ext cx="658379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/>
              <a:t>중복된 알람이 생길 수 있기 때문에 </a:t>
            </a:r>
            <a:r>
              <a:rPr lang="ko-KR" altLang="en-US" dirty="0" err="1"/>
              <a:t>Master를</a:t>
            </a:r>
            <a:r>
              <a:rPr lang="ko-KR" altLang="en-US" dirty="0"/>
              <a:t> 통해 강제로 읽는다</a:t>
            </a:r>
            <a:endParaRPr lang="ko-KR"/>
          </a:p>
          <a:p>
            <a:pPr marL="285750" indent="-285750">
              <a:buFont typeface="Arial"/>
              <a:buChar char="•"/>
            </a:pPr>
            <a:r>
              <a:rPr lang="ko-KR" altLang="en-US" b="1" u="sng" dirty="0"/>
              <a:t>결국 </a:t>
            </a:r>
            <a:r>
              <a:rPr lang="ko-KR" altLang="en-US" b="1" u="sng" dirty="0" err="1"/>
              <a:t>Master만</a:t>
            </a:r>
            <a:r>
              <a:rPr lang="ko-KR" altLang="en-US" dirty="0"/>
              <a:t> 사용한다는 것 아닌가..?</a:t>
            </a:r>
          </a:p>
          <a:p>
            <a:pPr marL="285750" indent="-285750">
              <a:buFont typeface="Arial"/>
              <a:buChar char="•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49976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A3182-F938-EE8F-F655-76E7CBF23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5B59D0-A360-557E-AFC0-91110B281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dirty="0" err="1"/>
              <a:t>복제시</a:t>
            </a:r>
            <a:r>
              <a:rPr lang="ko-KR" dirty="0"/>
              <a:t> 생기는 문제점</a:t>
            </a:r>
            <a:endParaRPr lang="ko-KR" b="0" dirty="0"/>
          </a:p>
          <a:p>
            <a:endParaRPr lang="ko-KR" dirty="0"/>
          </a:p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8A39E7-DB0A-A654-6650-A7FF227E60A9}"/>
              </a:ext>
            </a:extLst>
          </p:cNvPr>
          <p:cNvSpPr txBox="1"/>
          <p:nvPr/>
        </p:nvSpPr>
        <p:spPr>
          <a:xfrm>
            <a:off x="497984" y="1778578"/>
            <a:ext cx="6583794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/>
              <a:t>중복된 알람이 생길 수 있기 때문에 </a:t>
            </a:r>
            <a:r>
              <a:rPr lang="ko-KR" altLang="en-US" dirty="0" err="1"/>
              <a:t>Master를</a:t>
            </a:r>
            <a:r>
              <a:rPr lang="ko-KR" altLang="en-US" dirty="0"/>
              <a:t> 통해 강제로 읽는다</a:t>
            </a:r>
          </a:p>
          <a:p>
            <a:pPr marL="285750" indent="-285750">
              <a:buFont typeface="Arial"/>
              <a:buChar char="•"/>
            </a:pPr>
            <a:r>
              <a:rPr lang="ko-KR" altLang="en-US" b="1" u="sng" dirty="0"/>
              <a:t>결국 </a:t>
            </a:r>
            <a:r>
              <a:rPr lang="ko-KR" altLang="en-US" b="1" u="sng" dirty="0" err="1"/>
              <a:t>Master만</a:t>
            </a:r>
            <a:r>
              <a:rPr lang="ko-KR" altLang="en-US" dirty="0"/>
              <a:t> 사용한다는 것 아닌가..?</a:t>
            </a:r>
          </a:p>
          <a:p>
            <a:pPr marL="285750" indent="-285750">
              <a:buFont typeface="Arial"/>
              <a:buChar char="•"/>
            </a:pPr>
            <a:endParaRPr lang="ko-KR" altLang="en-US" dirty="0"/>
          </a:p>
          <a:p>
            <a:r>
              <a:rPr lang="ko-KR" altLang="en-US" dirty="0"/>
              <a:t>OK </a:t>
            </a:r>
            <a:r>
              <a:rPr lang="ko-KR" altLang="en-US" dirty="0" err="1"/>
              <a:t>포기할게요</a:t>
            </a:r>
            <a:r>
              <a:rPr lang="ko-KR" altLang="en-US" dirty="0"/>
              <a:t>. </a:t>
            </a:r>
          </a:p>
        </p:txBody>
      </p:sp>
      <p:pic>
        <p:nvPicPr>
          <p:cNvPr id="3" name="그림 2" descr="Sometimes the best option is to give up - Funny">
            <a:extLst>
              <a:ext uri="{FF2B5EF4-FFF2-40B4-BE49-F238E27FC236}">
                <a16:creationId xmlns:a16="http://schemas.microsoft.com/office/drawing/2014/main" id="{4F0FB4C3-1CA6-C1E9-5023-B2C9093A5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0477" y="2303011"/>
            <a:ext cx="5021873" cy="4208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6193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ABCDC-E37D-56E2-F313-2DE94FEDF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678ECC-374D-686C-6858-03524220C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멱등성</a:t>
            </a:r>
            <a:r>
              <a:rPr lang="ko-KR" altLang="en-US" dirty="0"/>
              <a:t> 보장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5C91CF-B173-E614-B37C-55985F6273C2}"/>
              </a:ext>
            </a:extLst>
          </p:cNvPr>
          <p:cNvSpPr txBox="1"/>
          <p:nvPr/>
        </p:nvSpPr>
        <p:spPr>
          <a:xfrm>
            <a:off x="497984" y="1778578"/>
            <a:ext cx="6583794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dirty="0"/>
              <a:t>이제 </a:t>
            </a:r>
            <a:r>
              <a:rPr lang="ko-KR" dirty="0" err="1"/>
              <a:t>skiplock도</a:t>
            </a:r>
            <a:r>
              <a:rPr lang="ko-KR" dirty="0"/>
              <a:t> 사용하지 못한다</a:t>
            </a:r>
          </a:p>
          <a:p>
            <a:r>
              <a:rPr lang="en-US" altLang="ko-KR" dirty="0"/>
              <a:t>(</a:t>
            </a:r>
            <a:r>
              <a:rPr lang="en-US" altLang="ko-KR" dirty="0" err="1"/>
              <a:t>락은</a:t>
            </a:r>
            <a:r>
              <a:rPr lang="en-US" altLang="ko-KR" dirty="0"/>
              <a:t> </a:t>
            </a:r>
            <a:r>
              <a:rPr lang="en-US" altLang="ko-KR" dirty="0" err="1"/>
              <a:t>쓰기</a:t>
            </a:r>
            <a:r>
              <a:rPr lang="en-US" altLang="ko-KR" dirty="0"/>
              <a:t> </a:t>
            </a:r>
            <a:r>
              <a:rPr lang="en-US" altLang="ko-KR" dirty="0" err="1"/>
              <a:t>서버에만</a:t>
            </a:r>
            <a:r>
              <a:rPr lang="en-US" altLang="ko-KR" dirty="0"/>
              <a:t> </a:t>
            </a:r>
            <a:r>
              <a:rPr lang="en-US" altLang="ko-KR" dirty="0" err="1"/>
              <a:t>적용되기때문</a:t>
            </a:r>
            <a:r>
              <a:rPr lang="en-US" altLang="ko-KR" dirty="0"/>
              <a:t>)</a:t>
            </a:r>
            <a:endParaRPr lang="ko-KR" dirty="0"/>
          </a:p>
          <a:p>
            <a:r>
              <a:rPr lang="ko-KR" altLang="en-US" dirty="0"/>
              <a:t>다른 방법을 찾아보자</a:t>
            </a:r>
          </a:p>
          <a:p>
            <a:pPr marL="285750" indent="-285750">
              <a:buFont typeface="Calibri"/>
              <a:buChar char="-"/>
            </a:pPr>
            <a:r>
              <a:rPr lang="ko-KR" altLang="en-US" dirty="0"/>
              <a:t>중복 전송이 문제 아닌가?</a:t>
            </a:r>
          </a:p>
          <a:p>
            <a:pPr marL="285750" indent="-285750">
              <a:buFont typeface="Calibri"/>
              <a:buChar char="-"/>
            </a:pPr>
            <a:r>
              <a:rPr lang="ko-KR" altLang="en-US" dirty="0"/>
              <a:t>복제지연을 허용한다면?</a:t>
            </a:r>
          </a:p>
        </p:txBody>
      </p:sp>
      <p:pic>
        <p:nvPicPr>
          <p:cNvPr id="5" name="그림 4" descr="텍스트, 도표, 라인, 평면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177667C-9106-5D87-75F3-C9C94216E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7121" y="892012"/>
            <a:ext cx="7205797" cy="3464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3248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7659F-1748-7E0B-4962-0E4EA83AE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581A8D-B2F3-E678-708E-D5E843862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멱등성</a:t>
            </a:r>
            <a:r>
              <a:rPr lang="ko-KR" altLang="en-US" dirty="0"/>
              <a:t> 보장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06DA7C-F9EC-3FA8-FFC4-43F07F2FEEE4}"/>
              </a:ext>
            </a:extLst>
          </p:cNvPr>
          <p:cNvSpPr txBox="1"/>
          <p:nvPr/>
        </p:nvSpPr>
        <p:spPr>
          <a:xfrm>
            <a:off x="497984" y="1778578"/>
            <a:ext cx="658379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/>
              <a:t>뭔가 </a:t>
            </a:r>
            <a:r>
              <a:rPr lang="ko-KR" altLang="en-US" b="1" dirty="0"/>
              <a:t>빠른 조회</a:t>
            </a:r>
            <a:r>
              <a:rPr lang="ko-KR" altLang="en-US" dirty="0"/>
              <a:t>를 지원하는</a:t>
            </a:r>
            <a:endParaRPr lang="ko-KR" dirty="0"/>
          </a:p>
          <a:p>
            <a:r>
              <a:rPr lang="ko-KR" altLang="en-US" dirty="0"/>
              <a:t>중간 계층이 있으면 되지 않을까..?</a:t>
            </a:r>
            <a:endParaRPr lang="ko-KR"/>
          </a:p>
        </p:txBody>
      </p:sp>
      <p:pic>
        <p:nvPicPr>
          <p:cNvPr id="5" name="그림 4" descr="텍스트, 도표, 라인, 평면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0E68A6B-C0ED-7F8C-2EEF-9E9F75DB8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7121" y="892012"/>
            <a:ext cx="7205797" cy="3464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6811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45D0A-EA46-905D-B438-0D9B0E380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32FA12-12F3-3B47-A717-37AF95D87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멱등성</a:t>
            </a:r>
            <a:r>
              <a:rPr lang="ko-KR" altLang="en-US" dirty="0"/>
              <a:t> 보장</a:t>
            </a:r>
          </a:p>
        </p:txBody>
      </p:sp>
      <p:pic>
        <p:nvPicPr>
          <p:cNvPr id="3" name="그림 2" descr="자료구조] 큐 (Queue)">
            <a:extLst>
              <a:ext uri="{FF2B5EF4-FFF2-40B4-BE49-F238E27FC236}">
                <a16:creationId xmlns:a16="http://schemas.microsoft.com/office/drawing/2014/main" id="{76F44430-8BE1-1776-9C09-4B79D743E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8305" y="1714744"/>
            <a:ext cx="6787659" cy="22122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CA79C7-EDD2-C11C-899C-210E734D6EE4}"/>
              </a:ext>
            </a:extLst>
          </p:cNvPr>
          <p:cNvSpPr txBox="1"/>
          <p:nvPr/>
        </p:nvSpPr>
        <p:spPr>
          <a:xfrm>
            <a:off x="497984" y="1778578"/>
            <a:ext cx="65837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/>
              <a:t>빠른 조회?</a:t>
            </a:r>
          </a:p>
        </p:txBody>
      </p:sp>
    </p:spTree>
    <p:extLst>
      <p:ext uri="{BB962C8B-B14F-4D97-AF65-F5344CB8AC3E}">
        <p14:creationId xmlns:p14="http://schemas.microsoft.com/office/powerpoint/2010/main" val="38872736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3F448-1378-CDB9-6BEA-9CA380EBD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DFEAD5-CE6B-48C4-1B4B-B58473DB9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멱등성</a:t>
            </a:r>
            <a:r>
              <a:rPr lang="ko-KR" altLang="en-US" dirty="0"/>
              <a:t> 보장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9094CD-4C36-5FB0-4813-DB5A0D963E08}"/>
              </a:ext>
            </a:extLst>
          </p:cNvPr>
          <p:cNvSpPr txBox="1"/>
          <p:nvPr/>
        </p:nvSpPr>
        <p:spPr>
          <a:xfrm>
            <a:off x="611928" y="1579176"/>
            <a:ext cx="658379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ko-KR" altLang="en-US" err="1"/>
              <a:t>Redis를</a:t>
            </a:r>
            <a:r>
              <a:rPr lang="ko-KR" altLang="en-US" dirty="0"/>
              <a:t> 도입하자.  </a:t>
            </a:r>
            <a:endParaRPr lang="ko-KR"/>
          </a:p>
          <a:p>
            <a:pPr marL="742950" lvl="1" indent="-285750">
              <a:buFont typeface="Courier New"/>
              <a:buChar char="o"/>
            </a:pPr>
            <a:r>
              <a:rPr lang="ko-KR" altLang="en-US" dirty="0" err="1"/>
              <a:t>멱등성</a:t>
            </a:r>
            <a:r>
              <a:rPr lang="ko-KR" altLang="en-US" dirty="0"/>
              <a:t> 보장을 위한 저장소 역할</a:t>
            </a:r>
            <a:endParaRPr lang="ko-KR" dirty="0"/>
          </a:p>
        </p:txBody>
      </p:sp>
      <p:pic>
        <p:nvPicPr>
          <p:cNvPr id="3" name="그림 2" descr="텍스트, 도표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0F068C8-CF87-8E2C-D182-88467BAA5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981" y="2364707"/>
            <a:ext cx="8253814" cy="3339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4427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DD6EC-B472-CCB0-EF23-AD89F308E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3C83D0-0AA0-ADDC-76E4-F4DB3726D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멱등성</a:t>
            </a:r>
            <a:r>
              <a:rPr lang="ko-KR" altLang="en-US" dirty="0"/>
              <a:t> 보장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370EF5-558D-10D4-63FA-D3836ED68C84}"/>
              </a:ext>
            </a:extLst>
          </p:cNvPr>
          <p:cNvSpPr txBox="1"/>
          <p:nvPr/>
        </p:nvSpPr>
        <p:spPr>
          <a:xfrm>
            <a:off x="611928" y="1579176"/>
            <a:ext cx="7229556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ko-KR" altLang="en-US" dirty="0"/>
              <a:t>나머지는 기존 구조와 동일하다</a:t>
            </a:r>
          </a:p>
          <a:p>
            <a:pPr lvl="1"/>
            <a:r>
              <a:rPr lang="ko-KR" altLang="en-US" dirty="0"/>
              <a:t>1. 알림을 보낼 데이터(</a:t>
            </a:r>
            <a:r>
              <a:rPr lang="ko-KR" altLang="en-US" dirty="0" err="1"/>
              <a:t>outbox</a:t>
            </a:r>
            <a:r>
              <a:rPr lang="ko-KR" altLang="en-US" dirty="0"/>
              <a:t>)</a:t>
            </a:r>
            <a:r>
              <a:rPr lang="ko-KR" altLang="en-US" dirty="0" err="1"/>
              <a:t>를</a:t>
            </a:r>
            <a:r>
              <a:rPr lang="ko-KR" altLang="en-US" dirty="0"/>
              <a:t> 조회한다</a:t>
            </a:r>
          </a:p>
          <a:p>
            <a:pPr lvl="1"/>
            <a:r>
              <a:rPr lang="ko-KR" altLang="en-US" dirty="0"/>
              <a:t>2. </a:t>
            </a:r>
            <a:r>
              <a:rPr lang="ko-KR" altLang="en-US" dirty="0" err="1"/>
              <a:t>redis에게</a:t>
            </a:r>
            <a:r>
              <a:rPr lang="ko-KR" altLang="en-US" dirty="0"/>
              <a:t> </a:t>
            </a:r>
            <a:r>
              <a:rPr lang="ko-KR" altLang="en-US" dirty="0" err="1"/>
              <a:t>락을</a:t>
            </a:r>
            <a:r>
              <a:rPr lang="ko-KR" altLang="en-US" dirty="0"/>
              <a:t> 최근 3분동안 이 알림이 이미 보내졌는지 확인한다</a:t>
            </a:r>
          </a:p>
          <a:p>
            <a:pPr lvl="1"/>
            <a:r>
              <a:rPr lang="ko-KR" altLang="en-US" dirty="0"/>
              <a:t>3. 보내졌다면 </a:t>
            </a:r>
            <a:r>
              <a:rPr lang="ko-KR" altLang="en-US" dirty="0" err="1"/>
              <a:t>skip</a:t>
            </a:r>
            <a:r>
              <a:rPr lang="ko-KR" altLang="en-US" dirty="0"/>
              <a:t>, 그렇지 않다면 전송 및 </a:t>
            </a:r>
            <a:r>
              <a:rPr lang="ko-KR" altLang="en-US" dirty="0" err="1"/>
              <a:t>redis에</a:t>
            </a:r>
            <a:r>
              <a:rPr lang="ko-KR" altLang="en-US" dirty="0"/>
              <a:t> 기록한다</a:t>
            </a:r>
            <a:endParaRPr lang="ko-KR" dirty="0"/>
          </a:p>
          <a:p>
            <a:pPr marL="285750" indent="-285750">
              <a:buFont typeface="Arial"/>
              <a:buChar char="•"/>
            </a:pPr>
            <a:endParaRPr lang="ko-KR" altLang="en-US" dirty="0"/>
          </a:p>
        </p:txBody>
      </p:sp>
      <p:pic>
        <p:nvPicPr>
          <p:cNvPr id="6" name="그림 5" descr="텍스트, 도표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58C6208-52E1-3968-71A3-618943B6E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981" y="2971724"/>
            <a:ext cx="8253814" cy="3339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2615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806B4-237F-6F38-4B5B-C9D883EEA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745129-E9B8-1835-7E69-1D40ACBC1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마무리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EC1DBB-F96A-71AE-F3DF-EF58E4B78422}"/>
              </a:ext>
            </a:extLst>
          </p:cNvPr>
          <p:cNvSpPr txBox="1"/>
          <p:nvPr/>
        </p:nvSpPr>
        <p:spPr>
          <a:xfrm>
            <a:off x="615462" y="1714499"/>
            <a:ext cx="9019442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ko-KR" altLang="en-US" dirty="0"/>
              <a:t>쓰기는</a:t>
            </a:r>
            <a:r>
              <a:rPr lang="en-US" dirty="0"/>
              <a:t> </a:t>
            </a:r>
            <a:r>
              <a:rPr lang="ko-KR" altLang="en-US" dirty="0"/>
              <a:t>어쩔</a:t>
            </a:r>
            <a:r>
              <a:rPr lang="en-US" altLang="ko-KR" dirty="0"/>
              <a:t> 수 </a:t>
            </a:r>
            <a:r>
              <a:rPr lang="en-US" altLang="ko-KR" dirty="0" err="1"/>
              <a:t>없이</a:t>
            </a:r>
            <a:r>
              <a:rPr lang="en-US" altLang="ko-KR" dirty="0"/>
              <a:t> </a:t>
            </a:r>
            <a:r>
              <a:rPr lang="en-US" altLang="ko-KR" dirty="0" err="1"/>
              <a:t>마스터</a:t>
            </a:r>
            <a:r>
              <a:rPr lang="en-US" altLang="ko-KR" dirty="0"/>
              <a:t> </a:t>
            </a:r>
            <a:r>
              <a:rPr lang="en-US" altLang="ko-KR" dirty="0" err="1"/>
              <a:t>DB의</a:t>
            </a:r>
            <a:r>
              <a:rPr lang="en-US" altLang="ko-KR" dirty="0"/>
              <a:t> </a:t>
            </a:r>
            <a:r>
              <a:rPr lang="en-US" altLang="ko-KR" dirty="0" err="1"/>
              <a:t>부하가</a:t>
            </a:r>
            <a:r>
              <a:rPr lang="en-US" altLang="ko-KR" dirty="0"/>
              <a:t> </a:t>
            </a:r>
            <a:r>
              <a:rPr lang="en-US" altLang="ko-KR" dirty="0" err="1"/>
              <a:t>크다</a:t>
            </a:r>
            <a:endParaRPr lang="en-US" altLang="ko-KR" dirty="0"/>
          </a:p>
          <a:p>
            <a:pPr marL="742950" lvl="1" indent="-285750">
              <a:buFont typeface="Courier New"/>
              <a:buChar char="o"/>
            </a:pPr>
            <a:r>
              <a:rPr lang="en-US" altLang="ko-KR" dirty="0" err="1"/>
              <a:t>배치로</a:t>
            </a:r>
            <a:r>
              <a:rPr lang="en-US" altLang="ko-KR" dirty="0"/>
              <a:t> </a:t>
            </a:r>
            <a:r>
              <a:rPr lang="en-US" altLang="ko-KR" dirty="0" err="1"/>
              <a:t>완화하자</a:t>
            </a:r>
            <a:endParaRPr lang="en-US" altLang="ko-KR" dirty="0"/>
          </a:p>
          <a:p>
            <a:pPr marL="285750" indent="-285750">
              <a:buFont typeface="Arial"/>
              <a:buChar char="•"/>
            </a:pPr>
            <a:r>
              <a:rPr lang="en-US" altLang="ko-KR" dirty="0" err="1"/>
              <a:t>조회는</a:t>
            </a:r>
            <a:r>
              <a:rPr lang="en-US" altLang="ko-KR" dirty="0"/>
              <a:t> </a:t>
            </a:r>
            <a:r>
              <a:rPr lang="en-US" altLang="ko-KR" dirty="0" err="1"/>
              <a:t>어느정도의</a:t>
            </a:r>
            <a:r>
              <a:rPr lang="en-US" altLang="ko-KR" dirty="0"/>
              <a:t> </a:t>
            </a:r>
            <a:r>
              <a:rPr lang="en-US" altLang="ko-KR" dirty="0" err="1"/>
              <a:t>복제</a:t>
            </a:r>
            <a:r>
              <a:rPr lang="en-US" altLang="ko-KR" dirty="0"/>
              <a:t> </a:t>
            </a:r>
            <a:r>
              <a:rPr lang="en-US" altLang="ko-KR" dirty="0" err="1"/>
              <a:t>지연을</a:t>
            </a:r>
            <a:r>
              <a:rPr lang="en-US" altLang="ko-KR" dirty="0"/>
              <a:t> </a:t>
            </a:r>
            <a:r>
              <a:rPr lang="en-US" altLang="ko-KR" dirty="0" err="1"/>
              <a:t>허용함으로써</a:t>
            </a:r>
            <a:r>
              <a:rPr lang="en-US" altLang="ko-KR" dirty="0"/>
              <a:t> </a:t>
            </a:r>
            <a:r>
              <a:rPr lang="en-US" altLang="ko-KR" dirty="0" err="1"/>
              <a:t>분산</a:t>
            </a:r>
            <a:r>
              <a:rPr lang="en-US" altLang="ko-KR" dirty="0"/>
              <a:t> </a:t>
            </a:r>
            <a:r>
              <a:rPr lang="en-US" altLang="ko-KR" dirty="0" err="1"/>
              <a:t>가능해졌다</a:t>
            </a:r>
            <a:r>
              <a:rPr lang="en-US" altLang="ko-KR" dirty="0"/>
              <a:t>.</a:t>
            </a:r>
          </a:p>
          <a:p>
            <a:pPr marL="742950" lvl="1" indent="-285750">
              <a:buFont typeface="Courier New"/>
              <a:buChar char="o"/>
            </a:pPr>
            <a:r>
              <a:rPr lang="en-US" altLang="ko-KR" dirty="0" err="1"/>
              <a:t>레디스로</a:t>
            </a:r>
            <a:r>
              <a:rPr lang="en-US" altLang="ko-KR" dirty="0"/>
              <a:t> </a:t>
            </a:r>
            <a:r>
              <a:rPr lang="en-US" altLang="ko-KR" dirty="0" err="1"/>
              <a:t>멱등성을</a:t>
            </a:r>
            <a:r>
              <a:rPr lang="en-US" altLang="ko-KR" dirty="0"/>
              <a:t> </a:t>
            </a:r>
            <a:r>
              <a:rPr lang="en-US" altLang="ko-KR" dirty="0" err="1"/>
              <a:t>확보하여</a:t>
            </a:r>
            <a:r>
              <a:rPr lang="en-US" altLang="ko-KR" dirty="0"/>
              <a:t> </a:t>
            </a:r>
            <a:r>
              <a:rPr lang="en-US" altLang="ko-KR" dirty="0" err="1"/>
              <a:t>안정성을</a:t>
            </a:r>
            <a:r>
              <a:rPr lang="en-US" altLang="ko-KR" dirty="0"/>
              <a:t> </a:t>
            </a:r>
            <a:r>
              <a:rPr lang="en-US" altLang="ko-KR" dirty="0" err="1"/>
              <a:t>향상시켰다</a:t>
            </a:r>
            <a:r>
              <a:rPr lang="en-US" altLang="ko-KR" dirty="0"/>
              <a:t>.</a:t>
            </a:r>
          </a:p>
          <a:p>
            <a:pPr marL="742950" lvl="1" indent="-285750">
              <a:buFont typeface="Courier New"/>
              <a:buChar char="o"/>
            </a:pPr>
            <a:r>
              <a:rPr lang="en-US" altLang="ko-KR" dirty="0" err="1"/>
              <a:t>만약</a:t>
            </a:r>
            <a:r>
              <a:rPr lang="en-US" altLang="ko-KR" dirty="0"/>
              <a:t>, </a:t>
            </a:r>
            <a:r>
              <a:rPr lang="en-US" altLang="ko-KR" dirty="0" err="1"/>
              <a:t>레디스가</a:t>
            </a:r>
            <a:r>
              <a:rPr lang="en-US" altLang="ko-KR" dirty="0"/>
              <a:t> </a:t>
            </a:r>
            <a:r>
              <a:rPr lang="en-US" altLang="ko-KR" dirty="0" err="1"/>
              <a:t>장애가</a:t>
            </a:r>
            <a:r>
              <a:rPr lang="en-US" altLang="ko-KR" dirty="0"/>
              <a:t> </a:t>
            </a:r>
            <a:r>
              <a:rPr lang="en-US" altLang="ko-KR" dirty="0" err="1"/>
              <a:t>나면</a:t>
            </a:r>
            <a:r>
              <a:rPr lang="en-US" altLang="ko-KR" dirty="0"/>
              <a:t> </a:t>
            </a:r>
            <a:r>
              <a:rPr lang="en-US" altLang="ko-KR" dirty="0" err="1"/>
              <a:t>어떻게</a:t>
            </a:r>
            <a:r>
              <a:rPr lang="en-US" altLang="ko-KR" dirty="0"/>
              <a:t> </a:t>
            </a:r>
            <a:r>
              <a:rPr lang="en-US" altLang="ko-KR" dirty="0" err="1"/>
              <a:t>될까</a:t>
            </a:r>
            <a:r>
              <a:rPr lang="en-US" altLang="ko-KR" dirty="0"/>
              <a:t>?</a:t>
            </a:r>
          </a:p>
          <a:p>
            <a:pPr marL="285750" indent="-285750">
              <a:buFont typeface="Arial"/>
              <a:buChar char="•"/>
            </a:pPr>
            <a:endParaRPr lang="en-US" altLang="ko-KR" dirty="0"/>
          </a:p>
          <a:p>
            <a:pPr marL="285750" indent="-285750">
              <a:buFont typeface="Arial"/>
              <a:buChar char="•"/>
            </a:pPr>
            <a:r>
              <a:rPr lang="en-US" altLang="ko-KR" b="1" dirty="0" err="1"/>
              <a:t>완벽한</a:t>
            </a:r>
            <a:r>
              <a:rPr lang="en-US" altLang="ko-KR" b="1" dirty="0"/>
              <a:t> </a:t>
            </a:r>
            <a:r>
              <a:rPr lang="en-US" altLang="ko-KR" b="1" dirty="0" err="1"/>
              <a:t>한번만</a:t>
            </a:r>
            <a:r>
              <a:rPr lang="en-US" altLang="ko-KR" b="1" dirty="0"/>
              <a:t> </a:t>
            </a:r>
            <a:r>
              <a:rPr lang="en-US" altLang="ko-KR" b="1" dirty="0" err="1"/>
              <a:t>보장은</a:t>
            </a:r>
            <a:r>
              <a:rPr lang="en-US" altLang="ko-KR" b="1" dirty="0"/>
              <a:t> </a:t>
            </a:r>
            <a:r>
              <a:rPr lang="en-US" altLang="ko-KR" b="1" dirty="0" err="1"/>
              <a:t>없다</a:t>
            </a:r>
            <a:r>
              <a:rPr lang="en-US" altLang="ko-KR" b="1" dirty="0"/>
              <a:t>. 99.9% </a:t>
            </a:r>
            <a:r>
              <a:rPr lang="en-US" altLang="ko-KR" b="1" dirty="0" err="1"/>
              <a:t>정도는</a:t>
            </a:r>
            <a:r>
              <a:rPr lang="en-US" altLang="ko-KR" b="1" dirty="0"/>
              <a:t> </a:t>
            </a:r>
            <a:r>
              <a:rPr lang="en-US" altLang="ko-KR" b="1" dirty="0" err="1"/>
              <a:t>가능할지도</a:t>
            </a:r>
            <a:r>
              <a:rPr lang="en-US" altLang="ko-KR" b="1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17419062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C364E-4C8C-7ABE-98A3-E2E0AE41B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529A3C-628D-08DB-DDD5-34C939159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더 </a:t>
            </a:r>
            <a:r>
              <a:rPr lang="ko-KR" altLang="en-US" dirty="0" err="1"/>
              <a:t>생각해볼수</a:t>
            </a:r>
            <a:r>
              <a:rPr lang="ko-KR" altLang="en-US" dirty="0"/>
              <a:t> 있는 것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1CEB10-AED7-4296-EFB3-6776B5096BCD}"/>
              </a:ext>
            </a:extLst>
          </p:cNvPr>
          <p:cNvSpPr txBox="1"/>
          <p:nvPr/>
        </p:nvSpPr>
        <p:spPr>
          <a:xfrm>
            <a:off x="245144" y="1579191"/>
            <a:ext cx="9019442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altLang="ko-KR" dirty="0" err="1"/>
              <a:t>쓰기</a:t>
            </a:r>
            <a:r>
              <a:rPr lang="en-US" altLang="ko-KR" dirty="0"/>
              <a:t> </a:t>
            </a:r>
            <a:r>
              <a:rPr lang="en-US" altLang="ko-KR" dirty="0" err="1"/>
              <a:t>분산은</a:t>
            </a:r>
            <a:r>
              <a:rPr lang="en-US" altLang="ko-KR" dirty="0"/>
              <a:t> </a:t>
            </a:r>
            <a:r>
              <a:rPr lang="en-US" altLang="ko-KR" dirty="0" err="1"/>
              <a:t>불가능한가</a:t>
            </a:r>
            <a:r>
              <a:rPr lang="en-US" altLang="ko-KR" dirty="0"/>
              <a:t>?</a:t>
            </a:r>
            <a:endParaRPr lang="ko-KR" dirty="0"/>
          </a:p>
          <a:p>
            <a:pPr marL="742950" lvl="1" indent="-285750">
              <a:buFont typeface="Courier New"/>
              <a:buChar char="o"/>
            </a:pPr>
            <a:r>
              <a:rPr lang="en-US" altLang="ko-KR" dirty="0" err="1"/>
              <a:t>알림용</a:t>
            </a:r>
            <a:r>
              <a:rPr lang="en-US" altLang="ko-KR" dirty="0"/>
              <a:t> </a:t>
            </a:r>
            <a:r>
              <a:rPr lang="en-US" altLang="ko-KR" dirty="0" err="1"/>
              <a:t>구조,데이터베이스를</a:t>
            </a:r>
            <a:r>
              <a:rPr lang="en-US" altLang="ko-KR" dirty="0"/>
              <a:t> </a:t>
            </a:r>
            <a:r>
              <a:rPr lang="en-US" altLang="ko-KR" dirty="0" err="1"/>
              <a:t>둔다면</a:t>
            </a:r>
            <a:r>
              <a:rPr lang="en-US" altLang="ko-KR" dirty="0"/>
              <a:t>? </a:t>
            </a:r>
          </a:p>
          <a:p>
            <a:pPr marL="742950" lvl="1" indent="-285750">
              <a:buFont typeface="Courier New"/>
              <a:buChar char="o"/>
            </a:pPr>
            <a:r>
              <a:rPr lang="en-US" altLang="ko-KR" dirty="0" err="1"/>
              <a:t>알림</a:t>
            </a:r>
            <a:r>
              <a:rPr lang="en-US" altLang="ko-KR" dirty="0"/>
              <a:t> </a:t>
            </a:r>
            <a:r>
              <a:rPr lang="en-US" altLang="ko-KR" dirty="0" err="1"/>
              <a:t>아키텍쳐</a:t>
            </a:r>
            <a:r>
              <a:rPr lang="en-US" altLang="ko-KR" dirty="0"/>
              <a:t> 그 </a:t>
            </a:r>
            <a:r>
              <a:rPr lang="en-US" altLang="ko-KR" dirty="0" err="1"/>
              <a:t>자체를</a:t>
            </a:r>
            <a:r>
              <a:rPr lang="en-US" altLang="ko-KR" dirty="0"/>
              <a:t> </a:t>
            </a:r>
            <a:r>
              <a:rPr lang="en-US" altLang="ko-KR" dirty="0" err="1"/>
              <a:t>분산한다면</a:t>
            </a:r>
            <a:r>
              <a:rPr lang="en-US" altLang="ko-KR" dirty="0"/>
              <a:t>?</a:t>
            </a:r>
          </a:p>
          <a:p>
            <a:pPr marL="742950" lvl="1" indent="-285750">
              <a:buFont typeface="Courier New"/>
              <a:buChar char="o"/>
            </a:pPr>
            <a:endParaRPr lang="en-US" altLang="ko-KR" dirty="0"/>
          </a:p>
          <a:p>
            <a:pPr marL="285750" indent="-285750">
              <a:buFont typeface="Arial"/>
              <a:buChar char="•"/>
            </a:pPr>
            <a:endParaRPr lang="en-US" altLang="ko-KR" dirty="0"/>
          </a:p>
        </p:txBody>
      </p:sp>
      <p:pic>
        <p:nvPicPr>
          <p:cNvPr id="4" name="그림 3" descr="도표, 텍스트, 평면도, 기술 도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2D3284B-5F10-4701-51D6-F89CD4E1D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423" y="1410056"/>
            <a:ext cx="7291883" cy="472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710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8DB54-2330-2CF6-5FAA-8FDC3C46B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DE699AB-35F9-7FB2-4C76-6F4BE13768FE}"/>
              </a:ext>
            </a:extLst>
          </p:cNvPr>
          <p:cNvSpPr txBox="1"/>
          <p:nvPr/>
        </p:nvSpPr>
        <p:spPr>
          <a:xfrm>
            <a:off x="4956560" y="3076486"/>
            <a:ext cx="27432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4000" dirty="0"/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993405849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32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3" baseType="lpstr">
      <vt:lpstr>VanillaVTI</vt:lpstr>
      <vt:lpstr>알림 아키텍쳐 개선기</vt:lpstr>
      <vt:lpstr>지난 이야기</vt:lpstr>
      <vt:lpstr>현재 아키텍쳐</vt:lpstr>
      <vt:lpstr>현재 아키텍쳐</vt:lpstr>
      <vt:lpstr>현재 아키텍쳐</vt:lpstr>
      <vt:lpstr>문제 1. 중복 알림 전송</vt:lpstr>
      <vt:lpstr>중복 알림 전송 해결</vt:lpstr>
      <vt:lpstr>만약 알림 데이터가 많아진다면?</vt:lpstr>
      <vt:lpstr>문제 2. 확장성 부재</vt:lpstr>
      <vt:lpstr>문제 2. 확장성 부재</vt:lpstr>
      <vt:lpstr>개선 1. 배치 적용</vt:lpstr>
      <vt:lpstr>기존 락 방식의 문제점</vt:lpstr>
      <vt:lpstr>개선 2. 락 개선</vt:lpstr>
      <vt:lpstr>해치웠나?</vt:lpstr>
      <vt:lpstr>개선 3. DB의 부담 줄이기</vt:lpstr>
      <vt:lpstr>개선 3. DB의 부담 줄이기</vt:lpstr>
      <vt:lpstr>복제 지연</vt:lpstr>
      <vt:lpstr>복제 지연</vt:lpstr>
      <vt:lpstr>복제 지연</vt:lpstr>
      <vt:lpstr>복제 지연</vt:lpstr>
      <vt:lpstr>복제 지연</vt:lpstr>
      <vt:lpstr>복제 지연 해결</vt:lpstr>
      <vt:lpstr>복제시 생기는 문제점</vt:lpstr>
      <vt:lpstr>복제시 생기는 문제점  </vt:lpstr>
      <vt:lpstr>멱등성 보장</vt:lpstr>
      <vt:lpstr>멱등성 보장</vt:lpstr>
      <vt:lpstr>멱등성 보장</vt:lpstr>
      <vt:lpstr>멱등성 보장</vt:lpstr>
      <vt:lpstr>멱등성 보장</vt:lpstr>
      <vt:lpstr>마무리</vt:lpstr>
      <vt:lpstr>더 생각해볼수 있는 것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692</cp:revision>
  <dcterms:created xsi:type="dcterms:W3CDTF">2025-11-15T14:01:41Z</dcterms:created>
  <dcterms:modified xsi:type="dcterms:W3CDTF">2025-11-16T06:16:11Z</dcterms:modified>
</cp:coreProperties>
</file>